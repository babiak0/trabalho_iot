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d478d9a-b496-7d98-4cc2-4f950892a315}">
          <p14:sldIdLst>
            <p14:sldId id="256"/>
          </p14:sldIdLst>
        </p14:section>
        <p14:section name="Problema e solução" id="{df2b8e18-88a7-42f2-1b50-85e5b5ff475a}">
          <p14:sldIdLst>
            <p14:sldId id="257"/>
            <p14:sldId id="258"/>
          </p14:sldIdLst>
        </p14:section>
        <p14:section name="Arquitetura" id="{df17ebfc-8bdb-11ac-81c7-c6b14a9dce3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Nuvem e SLA" id="{218fb4ec-0cbd-5f1b-e436-9872a048a610}">
          <p14:sldIdLst>
            <p14:sldId id="265"/>
            <p14:sldId id="266"/>
          </p14:sldIdLst>
        </p14:section>
        <p14:section name="Demonstração e encerramento" id="{bfced638-e04b-fe06-1c6d-7a1639b6e50d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1 · 30 s]
Boa noite. Somos o grupo [nome] e vamos apresentar o Ambiente Monitorado, um sistema que mede temperatura e umidade de um ambiente, avisa quando algo sai da faixa e permite agir à distância. Em 15 minutos vamos mostrar o problema, a arquitetura, a análise de nuvem, a proposta de SLA e, no meio disso, o sistema funcionando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1 · 1 min]
Escolhemos um caso concreto: o estoque de uma farmácia pequena. A maior parte dos medicamentos precisa ficar entre 15 e 30 graus, e a RDC 430 da Anvisa exige que temperatura e umidade sejam monitoradas e registradas.
Na prática, em farmácias pequenas isso ainda é feito com um termo-higrômetro e uma planilha preenchida duas ou três vezes por dia. O problema é o que acontece entre as anotações: se o ar-condicionado para de madrugada, ninguém sabe até a manhã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1 · 1 min]
Nossa proposta substitui a planilha por medição contínua. São quatro etapas: o ESP32 mede a cada 2 segundos; filtra os dados ali mesmo, na borda; quando a condição sai da faixa, avisa no Telegram em cerca de um segundo; e permite agir, ligando a ventilação pelo painel ou pelo próprio Telegram. Se a internet cair, o dispositivo toma essa decisão sozinho.
Agora o [Integrante 2] mostra como isso foi construído.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2 · 1 min 30 s]
Esta é a arquitetura. À esquerda, a borda: sensor, ESP32 e os atuadores. No meio, o HiveMQ Cloud, um broker MQTT gerenciado, com TLS e senha. À direita, uma máquina virtual na Oracle Cloud, em São Paulo, rodando em Docker o back-end em Go e o banco PostgreSQL, atrás do Nginx. O acesso ao painel passa pela Cloudflare, e as notificações vão pelo Telegram.
Um ponto importante: o dispositivo nunca fala direto com o servidor. Os dois só conhecem o broker. Isso permite mudar ou reiniciar o servidor sem mexer no firmware.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2 · 1 min]
O hardware é simples e barato, por volta de 80 reais: um ESP32, um sensor DHT22 no pino 4, um relé ou LED no pino 18 representando a ventilação e um LED vermelho no pino 19 para o alarme local. [Se a montagem física estiver pronta, mostrar a placa aqui.]
O firmware é em C++, com PlatformIO, ocupa 14% da memória e não usa nenhuma chamada bloqueante: ele mantém a conexão, trata comandos e lê o sensor a cada 2 segundos no mesmo laço.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2 · 1 min 30 s]
Aqui está o processamento na borda com dados reais de um teste. A linha cinza é o que o sensor leu; a preta é o que o ESP32 publicou. Quando mudamos de 24 para 80 graus, a primeira leitura foi tratada como possível ruído e descartada; quando se repetiu, foi aceita. O mesmo na volta.
Além disso, o dispositivo só envia quando o valor muda ou a cada 10 segundos como sinal de vida. Isso dá cinco vezes menos mensagens, e é o que faz a solução caber na cota gratuita do broker. E se ficar 30 segundos sem conexão com a temperatura alta, ele liga a ventilação sozinho.
Agora o [Integrante 3] fala da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3 · 1 min 30 s]
Usamos MQTT, com tópicos por dispositivo. Do ESP32 para a nuvem vão telemetria, status e confirmações; da nuvem para o ESP32 vão comandos e os limites de alerta. Os limites ficam retidos no broker: um dispositivo que acabou de ligar já recebe a configuração.
Na segurança: TLS na porta 8883, com o certificado validado no firmware, e usuário e senha individuais. O Last Will faz o broker avisar quando o ESP32 cai sem se despedir; no teste, o alerta chegou em 3 segundos. E cada comando tem um identificador, então mesmo que o QoS 1 entregue duas vezes, o relé só é acionado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3 · 1 min]
O back-end é em Go e roda em Docker com o PostgreSQL. As regras foram pensadas para não gerar alarme falso: o alerta só sai depois de três leituras seguidas fora do limite, e só é considerado normalizado com uma margem de folga. As notificações passam por uma fila com até cinco tentativas, então se o Telegram oscilar, a mensagem atrasa, mas não se perde. E um watchdog marca como offline qualquer dispositivo que fique 30 segundos sem enviar dados.
O [Integrante 4] mostra agora o painel e as notificações.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4 · 1 min]
O painel está publicado em iot.bruggeongrails.com, com login. Mostra os valores atuais, o histórico com a faixa dos limites, o controle da ventilação e os limites, que podem ser alterados ali mesmo e são enviados ao ESP32 na hora.
O Telegram faz dois papéis: recebe os alertas e aceita comandos. Quando mandamos /ligar, o bot só responde depois que o ESP32 confirma, e informa quanto tempo levou.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4 · 1 min 30 s]
Na análise de nuvem, cada parte cai num modelo. A máquina virtual da Oracle é IaaS: a Oracle entrega a máquina e todo o resto é nosso, de certificado a backup. O broker do HiveMQ é um serviço de plataforma: só criamos as credenciais. Cloudflare, Telegram, GitHub e Wokwi são SaaS.
O compromisso é claro: quanto mais gerenciado, menos trabalho e menos controle. E vivemos isso na prática: no meio do projeto, o HiveMQ encerrou o plano gratuito. Como o back-end fala MQTT padrão, a saída já existe: o próprio projeto sobe um Mosquitto em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4 · 1 min 30 s]
Para o SLA, imaginamos uma rede de 20 farmácias com 40 dispositivos funcionando 24 horas. A meta principal é 99,5% de disponibilidade, ou seja, no máximo 3 horas e meia fora do ar por mês, com crédito na mensalidade se não for cumprida.
O interessante é que o próprio sistema mede esses indicadores. A latência de ingestão ficou em 448 milissegundos, puxada pelo broker estar na Alemanha; o alerta chega em segundos; o comando é confirmado em menos de 3 segundos. A completude ficou baixa porque o dispositivo de teste rodava num notebook que entrou em repouso, então essa medição precisa ser refeita com o hardware ligado direto.
Agora vamos à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5 conduz · todos participam · 3 min]
ANTES DE COMEÇAR: painel aberto e logado; Wokwi rodando; Telegram aberto no celular espelhado ou na tela.
1. Mostrar o painel com o esp32-sala-01 online e as leituras chegando.
2. No Wokwi, clicar no DHT22 e subir a temperatura para 35 °C. Mostrar o LED vermelho acendendo na hora (decisão da borda).
3. Mostrar o alerta chegando no Telegram e aparecendo no painel.
4. Enviar /ligar pelo Telegram (ou clicar em Ligar ventilação no painel): LED verde acende e o bot responde com o tempo de confirmação.
5. Voltar a temperatura para 24 °C: chega o "Normalizado".
6. Parar a simulação no Wokwi: em poucos segundos chega o alerta de queda (Last Will).
PLANO B: se o Wokwi ou a internet falharem, rodar o simulador em Go (go run ./cmd/simulator) e digitar "t 35" no terminal; o resto da demonstração é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[Integrante 5 · 1 min 30 s]
Para fechar: aprendemos que falha silenciosa custa caro, porque no começo o sensor falhava sem dar nenhum sinal; que estado em memória não sobrevive a reinício; e que serviço gratuito pode mudar a qualquer momento.
As limitações principais são [ajustar conforme a montagem física], o broker longe do Brasil e uma única máquina sem backup automatizado. Os próximos passos atacam exatamente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[Todos · 5 min de perguntas]
Perguntas prováveis e quem responde:
- Por que MQTT e não HTTP? (Integrante 3) Conexão persistente, mensagens pequenas, QoS, Last Will e comunicação nos dois sentidos sem o dispositivo precisar abrir porta.
- E se a internet da farmácia cair? (Integrante 2) O ESP32 continua decidindo: alarme local e ventilação ligada sozinha; o servidor detecta a queda e avisa no Telegram.
- Quanto custaria em produção? (Integrante 4) Hardware em torno de 80 reais por ponto; nuvem cabe nos planos gratuitos para até cerca de 99 dispositivos, mas sem SLA; em produção, broker e máquina pagos.
- Por que Go? (Integrante 3) Binário único, pouca memória (9 MB) e imagem Docker de 29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E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Ambiente Monitorado · Arquitetura de Sistemas IoT e Computação em Nuvem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Ambiente Monitorado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Monitoramento de temperatura e umidade com IoT e computação em nuvem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92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Arquitetura de Sistemas IoT e Computação em Nuvem · Engenharia de Software · 2026/2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Prof. Eduardo Tamanaha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[Integrante 1] · [Integrante 2] · [Integrante 3] · [Integrante 4] · [Integrante 5]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 de medicamento não pode esperar a próxima anotação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EXIGÊNCIA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15 a 30 °C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é a faixa de armazenamento da maior parte dos medicamentos (Farmacopeia Brasileira). A RDC 430/2020 da Anvisa exige monitorar e registrar temperatura e umidade.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COMO É FEITO HOJE EM FARMÁCIAS PEQUENAS</a:t>
            </a:r>
            <a:endParaRPr lang="en-US" sz="1200" dirty="0"/>
          </a:p>
        </p:txBody>
      </p:sp>
      <p:sp>
        <p:nvSpPr>
          <p:cNvPr id="7" name="problema-1"/>
          <p:cNvSpPr/>
          <p:nvPr/>
        </p:nvSpPr>
        <p:spPr>
          <a:xfrm>
            <a:off x="6309360" y="1874520"/>
            <a:ext cx="53035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Termo-higrômetro e planilha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Duas ou três anotações por dia, feitas à mão.</a:t>
            </a:r>
            <a:endParaRPr lang="en-US" sz="1500" dirty="0"/>
          </a:p>
        </p:txBody>
      </p:sp>
      <p:sp>
        <p:nvSpPr>
          <p:cNvPr id="10" name="problema-2"/>
          <p:cNvSpPr/>
          <p:nvPr/>
        </p:nvSpPr>
        <p:spPr>
          <a:xfrm>
            <a:off x="6309360" y="3200400"/>
            <a:ext cx="53035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364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Nada é visto entre as anotações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 o ar-condicionado para às 2 h, o problema só aparece no expediente seguinte.</a:t>
            </a:r>
            <a:endParaRPr lang="en-US" sz="1500" dirty="0"/>
          </a:p>
        </p:txBody>
      </p:sp>
      <p:sp>
        <p:nvSpPr>
          <p:cNvPr id="13" name="problema-3"/>
          <p:cNvSpPr/>
          <p:nvPr/>
        </p:nvSpPr>
        <p:spPr>
          <a:xfrm>
            <a:off x="6309360" y="4526280"/>
            <a:ext cx="53035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690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Depende de alguém lembrar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Lacunas e registros preenchidos depois do horário.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Medição contínua, aviso em segundos e ação à distância</a:t>
            </a:r>
            <a:endParaRPr lang="en-US" sz="3200" dirty="0"/>
          </a:p>
        </p:txBody>
      </p:sp>
      <p:sp>
        <p:nvSpPr>
          <p:cNvPr id="3" name="etapa-01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ESP32 com sensor DHT22 lê temperatura e umidade a cada 2 segundos.</a:t>
            </a:r>
            <a:endParaRPr lang="en-US" sz="1500" dirty="0"/>
          </a:p>
        </p:txBody>
      </p:sp>
      <p:sp>
        <p:nvSpPr>
          <p:cNvPr id="7" name="etapa-02"/>
          <p:cNvSpPr/>
          <p:nvPr/>
        </p:nvSpPr>
        <p:spPr>
          <a:xfrm>
            <a:off x="3364992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Filtra na borda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O próprio dispositivo descarta leituras inválidas e picos e calcula a média móvel.</a:t>
            </a:r>
            <a:endParaRPr lang="en-US" sz="1500" dirty="0"/>
          </a:p>
        </p:txBody>
      </p:sp>
      <p:sp>
        <p:nvSpPr>
          <p:cNvPr id="11" name="etapa-03"/>
          <p:cNvSpPr/>
          <p:nvPr/>
        </p:nvSpPr>
        <p:spPr>
          <a:xfrm>
            <a:off x="6181344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Avisa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Fora da faixa, o responsável recebe a mensagem no Telegram em cerca de 1 segundo.</a:t>
            </a:r>
            <a:endParaRPr lang="en-US" sz="1500" dirty="0"/>
          </a:p>
        </p:txBody>
      </p:sp>
      <p:sp>
        <p:nvSpPr>
          <p:cNvPr id="15" name="etapa-04"/>
          <p:cNvSpPr/>
          <p:nvPr/>
        </p:nvSpPr>
        <p:spPr>
          <a:xfrm>
            <a:off x="8997696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Age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Liga a ventilação pelo painel ou pelo Telegram, ou o ESP32 liga sozinho se a internet cair.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Histórico completo no painel web, exportável em planilha para a fiscalização.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Arquitetura: dispositivo, broker gerenciado e servidor na nuvem</a:t>
            </a:r>
            <a:endParaRPr lang="en-US" sz="3200" dirty="0"/>
          </a:p>
        </p:txBody>
      </p:sp>
      <p:pic>
        <p:nvPicPr>
          <p:cNvPr id="3" name="arquitetura.png" descr="Diagrama de compon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976" y="1325880"/>
            <a:ext cx="7975743" cy="4526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Dispositivo e servidor nunca se falam diretamente: tudo passa pelo broker MQTT.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dispositivo: ESP32, DHT22 e dois atuadores</a:t>
            </a:r>
            <a:endParaRPr lang="en-US" sz="3200" dirty="0"/>
          </a:p>
        </p:txBody>
      </p:sp>
      <p:pic>
        <p:nvPicPr>
          <p:cNvPr id="3" name="wokwi.png" descr="Circuito no simulador Wokw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2732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Circuito no simulador Wokwi; o mesmo firmware é gravado na placa física.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COMPONENTES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ESP32 DevKit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1762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Wi-Fi, TLS e processamento de borda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6060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DHT22 · GPIO 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535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temperatura (±0,5 °C) e umidade (±2–5 %)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33832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Relé ou LED verde · GPIO 18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7307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ventilação, comandada pela nuvem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605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LED vermelho · GPIO 19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45079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alarme local, decidido pelo próprio ESP32</a:t>
            </a:r>
            <a:endParaRPr lang="en-US" sz="1500" dirty="0"/>
          </a:p>
        </p:txBody>
      </p:sp>
      <p:sp>
        <p:nvSpPr>
          <p:cNvPr id="14" name="firmware"/>
          <p:cNvSpPr/>
          <p:nvPr/>
        </p:nvSpPr>
        <p:spPr>
          <a:xfrm>
            <a:off x="6217920" y="5074920"/>
            <a:ext cx="53949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Firmware em C++ (Arduino + PlatformIO) · 14 % da RAM · laço sem bloqueios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Processamento na borda: só sai do ESP32 o que interessa</a:t>
            </a:r>
            <a:endParaRPr lang="en-US" sz="3200" dirty="0"/>
          </a:p>
        </p:txBody>
      </p:sp>
      <p:pic>
        <p:nvPicPr>
          <p:cNvPr id="3" name="filtro_borda.png" descr="Gráfico de leitura bruta e valor publi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3364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967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Teste real no Wokwi: picos rejeitados até se confirmarem; em alarme, envio a cada 2 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417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5×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menos mensagens com o envio por exceção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leituras iguais para aceitar um salto brusco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 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sem broker e acima do limite: liga a ventilação sozinho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Mensageria MQTT nos dois sentidos, com TLS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Tópico ambiente/&lt;id&gt;/…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Sentido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QoS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telemetry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ESP32 → nuvem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status (Last Will)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ESP32 → nuvem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1, retido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ack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ESP32 → nuvem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cmd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nuvem → ESP32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config (limites)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nuvem → ESP32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324F"/>
                          </a:solidFill>
                        </a:rPr>
                        <a:t>1, retido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1323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SEGURANÇA E CONFIABILIDADE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132320" y="18288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TLS 1.2 na porta 8883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21762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certificado do broker validado no firmware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6974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Usuário e senha por dispositivo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sem acesso anônimo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35661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Last Will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913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queda do ESP32 vira alerta em cerca de 3 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4434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Comando com id único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47823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QoS 1 sem executar duas vezes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Back-end em Go: regras que evitam alarme falso</a:t>
            </a:r>
            <a:endParaRPr lang="en-US" sz="3200" dirty="0"/>
          </a:p>
        </p:txBody>
      </p:sp>
      <p:sp>
        <p:nvSpPr>
          <p:cNvPr id="3" name="regra-1"/>
          <p:cNvSpPr/>
          <p:nvPr/>
        </p:nvSpPr>
        <p:spPr>
          <a:xfrm>
            <a:off x="548640" y="1463040"/>
            <a:ext cx="3611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 leituras seguidas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fora do limite para disparar o alerta; um pico isolado não incomoda ninguém</a:t>
            </a:r>
            <a:endParaRPr lang="en-US" sz="1500" dirty="0"/>
          </a:p>
        </p:txBody>
      </p:sp>
      <p:sp>
        <p:nvSpPr>
          <p:cNvPr id="6" name="regra-2"/>
          <p:cNvSpPr/>
          <p:nvPr/>
        </p:nvSpPr>
        <p:spPr>
          <a:xfrm>
            <a:off x="4389120" y="1463040"/>
            <a:ext cx="3611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Histerese de 1 °C / 3 %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945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considerar normalizado; evita alerta e normalização alternando</a:t>
            </a:r>
            <a:endParaRPr lang="en-US" sz="1500" dirty="0"/>
          </a:p>
        </p:txBody>
      </p:sp>
      <p:sp>
        <p:nvSpPr>
          <p:cNvPr id="9" name="regra-3"/>
          <p:cNvSpPr/>
          <p:nvPr/>
        </p:nvSpPr>
        <p:spPr>
          <a:xfrm>
            <a:off x="548640" y="3703320"/>
            <a:ext cx="3611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Fila com 5 tentativas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34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alerta é gravado antes e entregue depois; instabilidade no Telegram atrasa, mas não perde</a:t>
            </a:r>
            <a:endParaRPr lang="en-US" sz="1500" dirty="0"/>
          </a:p>
        </p:txBody>
      </p:sp>
      <p:sp>
        <p:nvSpPr>
          <p:cNvPr id="12" name="regra-4"/>
          <p:cNvSpPr/>
          <p:nvPr/>
        </p:nvSpPr>
        <p:spPr>
          <a:xfrm>
            <a:off x="4389120" y="3703320"/>
            <a:ext cx="3611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Watchdog de 30 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434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dispositivo sem dados é marcado como offline, mesmo sem o Last Will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EM NÚMEROS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29 MB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imagem Docker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9 MB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 memória em uso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 tabelas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 PostgreSQL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30 dias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 histórico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Painel web e Telegram</a:t>
            </a:r>
            <a:endParaRPr lang="en-US" sz="3200" dirty="0"/>
          </a:p>
        </p:txBody>
      </p:sp>
      <p:pic>
        <p:nvPicPr>
          <p:cNvPr id="3" name="painel_topo.png" descr="Painel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168718" cy="4343400"/>
          </a:xfrm>
          <a:prstGeom prst="rect">
            <a:avLst/>
          </a:prstGeom>
        </p:spPr>
      </p:pic>
      <p:pic>
        <p:nvPicPr>
          <p:cNvPr id="4" name="telegram.png" descr="Conversa com o bot do Tele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398" y="1371600"/>
            <a:ext cx="3590544" cy="4343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iot.bruggeongrails.com · acesso com login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8037398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/status, /ligar, /desligar, /limites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cada parte roda: IaaS, PaaS e SaaS</a:t>
            </a:r>
            <a:endParaRPr lang="en-US" sz="3200" dirty="0"/>
          </a:p>
        </p:txBody>
      </p:sp>
      <p:sp>
        <p:nvSpPr>
          <p:cNvPr id="3" name="modelo-IaaS"/>
          <p:cNvSpPr/>
          <p:nvPr/>
        </p:nvSpPr>
        <p:spPr>
          <a:xfrm>
            <a:off x="548640" y="146304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IaaS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Nós administramos o sistema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Máquina virtual Oracle Cloud (São Paulo, 4 núcleos ARM, 24 GB)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Docker, Nginx, PostgreSQL e o back-end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Controle total; atualizações e backup são nossos</a:t>
            </a:r>
            <a:endParaRPr lang="en-US" sz="1300" dirty="0"/>
          </a:p>
        </p:txBody>
      </p:sp>
      <p:sp>
        <p:nvSpPr>
          <p:cNvPr id="8" name="modelo-PaaS"/>
          <p:cNvSpPr/>
          <p:nvPr/>
        </p:nvSpPr>
        <p:spPr>
          <a:xfrm>
            <a:off x="4297680" y="146304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PaaS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Plataforma pronta, nós só usamos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Broker MQTT HiveMQ Cloud (Frankfurt)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Até 100 conexões e 10 GB/mês no plano gratuito</a:t>
            </a:r>
            <a:endParaRPr lang="en-US" sz="1300" dirty="0"/>
          </a:p>
        </p:txBody>
      </p:sp>
      <p:sp>
        <p:nvSpPr>
          <p:cNvPr id="13" name="modelo-SaaS"/>
          <p:cNvSpPr/>
          <p:nvPr/>
        </p:nvSpPr>
        <p:spPr>
          <a:xfrm>
            <a:off x="8046720" y="1463040"/>
            <a:ext cx="35204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SaaS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Software pronto, só configuramos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Cloudflare: DNS, proxy e HTTPS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Telegram: alertas e comandos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GitHub e Wokwi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Sem SLA nos planos gratuitos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 prática: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plano gratuito do HiveMQ foi encerrado para novos clientes durante o projeto e sai do ar em 31/12/2026. A saída já está pronta: o mesmo sistema roda com um Mosquitto próprio.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Proposta de SLA e o que o protótipo já entrega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21031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Medido no protótipo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Latência de ingestão (p95)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≤ 2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448 ms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8A576"/>
                          </a:solidFill>
                        </a:rPr>
                        <a:t>atende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Entrega do alerta no Telegram (p95)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≤ 30 s no total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6,4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8A576"/>
                          </a:solidFill>
                        </a:rPr>
                        <a:t>atende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Comando até a confirmação (p95)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≤ 5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0,5 s a 2,7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8A576"/>
                          </a:solidFill>
                        </a:rPr>
                        <a:t>atende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Detecção de dispositivo offline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≤ 60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≈ 3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8A576"/>
                          </a:solidFill>
                        </a:rPr>
                        <a:t>atende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Completude dos dados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≥ 99 %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324F"/>
                          </a:solidFill>
                        </a:rPr>
                        <a:t>16,8 % (notebook em repouso)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12B"/>
                          </a:solidFill>
                        </a:rPr>
                        <a:t>refazer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sponibilidade"/>
          <p:cNvSpPr/>
          <p:nvPr/>
        </p:nvSpPr>
        <p:spPr>
          <a:xfrm>
            <a:off x="8549640" y="1463040"/>
            <a:ext cx="3063240" cy="425196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99,5 %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disponibilidade mensal: no máximo 3 h 36 min fora do 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5661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Cenário: 20 farmácias, 40 dispositivos, 24 × 7. Recuperação em até 1 h e perda máxima de 24 h de dados. Crédito de 10 % a 50 % na mensalidade se a meta não for cumprida.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Fonte: indicadores do próprio sistema (/api/metrics), últimas 24 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Demonstração ao vivo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Painel com o ESP32 online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44368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944368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Temperatura acima de 30 °C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57216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157216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LED vermelho e alerta no Telegram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70064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370064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/ligar pelo celular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582912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582912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Desliga o ESP32: alerta de queda</a:t>
            </a:r>
            <a:endParaRPr lang="en-US" sz="16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aprendemos e o que vem a seguir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Aprendemos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Falha silenciosa custa caro: o firmware passou a registrar erros de leitura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Estado em memória não sobrevive a reinício: alertas ativos foram para o banco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Serviço gratuito muda: ter plano de saída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Limitações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05740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[Testes no Wokwi; atualizar com a montagem física]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Broker em Frankfurt aumenta a latência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Uma única máquina virtual e sem backup automático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Próximos passos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057400"/>
            <a:ext cx="3520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Dispositivo físico com relé e ventilador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Broker na América do Sul ou Mosquitto próprio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Backup diário e monitor externo de disponibilidade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Relatório mensal para a vigilância sanitária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Obrigado. Perguntas?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iot.bruggeongrails.com  ·  github.com/Babiak0/trabalho_IOT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[Integrante 1] · [Integrante 2] · [Integrante 3] · [Integrante 4] · [Integrante 5]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biente Monitorado">
  <a:themeElements>
    <a:clrScheme name="Ambiente Monitorado">
      <a:dk1>
        <a:srgbClr val="16324F"/>
      </a:dk1>
      <a:lt1>
        <a:srgbClr val="FFFFFF"/>
      </a:lt1>
      <a:dk2>
        <a:srgbClr val="0E2236"/>
      </a:dk2>
      <a:lt2>
        <a:srgbClr val="F3F7FA"/>
      </a:lt2>
      <a:accent1>
        <a:srgbClr val="087E8B"/>
      </a:accent1>
      <a:accent2>
        <a:srgbClr val="C76128"/>
      </a:accent2>
      <a:accent3>
        <a:srgbClr val="62748A"/>
      </a:accent3>
      <a:accent4>
        <a:srgbClr val="28A576"/>
      </a:accent4>
      <a:accent5>
        <a:srgbClr val="B8412B"/>
      </a:accent5>
      <a:accent6>
        <a:srgbClr val="DCE6EE"/>
      </a:accent6>
      <a:hlink>
        <a:srgbClr val="087E8B"/>
      </a:hlink>
      <a:folHlink>
        <a:srgbClr val="62748A"/>
      </a:folHlink>
    </a:clrScheme>
    <a:fontScheme name="Ambiente Monito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Ambiente Monitorado</dc:title>
  <dc:subject>PptxGenJS Presentation</dc:subject>
  <dc:creator>PptxGenJS</dc:creator>
  <cp:lastModifiedBy>PptxGenJS</cp:lastModifiedBy>
  <cp:revision>1</cp:revision>
  <dcterms:created xsi:type="dcterms:W3CDTF">2026-10-15T03:51:07Z</dcterms:created>
  <dcterms:modified xsi:type="dcterms:W3CDTF">2026-10-15T03:51:07Z</dcterms:modified>
</cp:coreProperties>
</file>